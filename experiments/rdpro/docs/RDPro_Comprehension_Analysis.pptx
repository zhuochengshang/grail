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9E6B"/>
              </a:solidFill>
              <a:effectLst/>
            </c:spPr>
          </c:dPt>
          <c:dPt>
            <c:idx val="1"/>
            <c:bubble3D val="0"/>
            <c:spPr>
              <a:solidFill>
                <a:srgbClr val="C4462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Passed (64)</c:v>
                </c:pt>
                <c:pt idx="1">
                  <c:v>Failed (154)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64</c:v>
                </c:pt>
                <c:pt idx="1">
                  <c:v>154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APIs</c:v>
                </c:pt>
              </c:strCache>
            </c:strRef>
          </c:tx>
          <c:spPr>
            <a:solidFill>
              <a:srgbClr val="D983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compile</c:v>
                  </c:pt>
                  <c:pt idx="1">
                    <c:v>runtime</c:v>
                  </c:pt>
                  <c:pt idx="2">
                    <c:v>no check</c:v>
                  </c:pt>
                  <c:pt idx="3">
                    <c:v>unknown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127</c:v>
                </c:pt>
                <c:pt idx="1">
                  <c:v>23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329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329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passes</c:v>
                </c:pt>
              </c:strCache>
            </c:strRef>
          </c:tx>
          <c:spPr>
            <a:solidFill>
              <a:srgbClr val="0E7C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Round 0</c:v>
                  </c:pt>
                  <c:pt idx="1">
                    <c:v>Round 1</c:v>
                  </c:pt>
                  <c:pt idx="2">
                    <c:v>Round 2</c:v>
                  </c:pt>
                  <c:pt idx="3">
                    <c:v>Round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7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329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9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446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29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46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32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832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6B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6B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6B7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Wrong receiver / bare-name</c:v>
                  </c:pt>
                  <c:pt idx="1">
                    <c:v>Signature &amp; type mismatch</c:v>
                  </c:pt>
                  <c:pt idx="2">
                    <c:v>Hallucinated name / package</c:v>
                  </c:pt>
                  <c:pt idx="3">
                    <c:v>Environment / harness</c:v>
                  </c:pt>
                  <c:pt idx="4">
                    <c:v>Runtime bad-input</c:v>
                  </c:pt>
                  <c:pt idx="5">
                    <c:v>Private / inaccessible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</c:v>
                </c:pt>
                <c:pt idx="1">
                  <c:v>22</c:v>
                </c:pt>
                <c:pt idx="2">
                  <c:v>17</c:v>
                </c:pt>
                <c:pt idx="3">
                  <c:v>14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329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329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937760" cy="4937760"/>
          </a:xfrm>
          <a:prstGeom prst="ellipse">
            <a:avLst/>
          </a:prstGeom>
          <a:solidFill>
            <a:srgbClr val="16354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566160"/>
            <a:ext cx="3840480" cy="3840480"/>
          </a:xfrm>
          <a:prstGeom prst="ellipse">
            <a:avLst/>
          </a:prstGeom>
          <a:solidFill>
            <a:srgbClr val="16354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COMPREHENSION BENCHMARK  ·  DOC_SOURCE: AIDEAL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RDPro API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Comprehension Run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3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results &amp; failure analysis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85800" y="3977640"/>
            <a:ext cx="1568196" cy="457200"/>
          </a:xfrm>
          <a:prstGeom prst="roundRect">
            <a:avLst>
              <a:gd name="adj" fmla="val 50000"/>
            </a:avLst>
          </a:prstGeom>
          <a:solidFill>
            <a:srgbClr val="16354E"/>
          </a:solidFill>
          <a:ln w="12700">
            <a:solidFill>
              <a:srgbClr val="0E7C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977640"/>
            <a:ext cx="1568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execute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10028" y="3977640"/>
            <a:ext cx="1760220" cy="457200"/>
          </a:xfrm>
          <a:prstGeom prst="roundRect">
            <a:avLst>
              <a:gd name="adj" fmla="val 50000"/>
            </a:avLst>
          </a:prstGeom>
          <a:solidFill>
            <a:srgbClr val="16354E"/>
          </a:solidFill>
          <a:ln w="12700">
            <a:solidFill>
              <a:srgbClr val="0E7C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0028" y="397764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 APIs tested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26280" y="3977640"/>
            <a:ext cx="2528316" cy="457200"/>
          </a:xfrm>
          <a:prstGeom prst="roundRect">
            <a:avLst>
              <a:gd name="adj" fmla="val 50000"/>
            </a:avLst>
          </a:prstGeom>
          <a:solidFill>
            <a:srgbClr val="16354E"/>
          </a:solidFill>
          <a:ln w="12700">
            <a:solidFill>
              <a:srgbClr val="0E7C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3977640"/>
            <a:ext cx="2528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to compile to run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0628" y="3977640"/>
            <a:ext cx="1664208" cy="457200"/>
          </a:xfrm>
          <a:prstGeom prst="roundRect">
            <a:avLst>
              <a:gd name="adj" fmla="val 50000"/>
            </a:avLst>
          </a:prstGeom>
          <a:solidFill>
            <a:srgbClr val="16354E"/>
          </a:solidFill>
          <a:ln w="12700">
            <a:solidFill>
              <a:srgbClr val="0E7C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0628" y="39776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rounds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69680" y="1371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E7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8400" dirty="0"/>
          </a:p>
        </p:txBody>
      </p:sp>
      <p:sp>
        <p:nvSpPr>
          <p:cNvPr id="16" name="Text 14"/>
          <p:cNvSpPr/>
          <p:nvPr/>
        </p:nvSpPr>
        <p:spPr>
          <a:xfrm>
            <a:off x="886968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 ·  64 of 218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968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FAIL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RUN TESTS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generate to compile to execute loop over documented APIs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218 documented RDPro APIs, the harness asks the model to write a Scala snippet exercising that API.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snippet is spliced into a scaffold that already supplies the full import surface and typed sample data (Boston raster + neighborhood polygons + land-use CSV).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then compiled with scalac and executed via spark-submit. Failures are replayed with a fix hint - up to 4 rounds.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0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passes only if it compiles, runs, and clears a correctness check.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0" y="1691640"/>
            <a:ext cx="6126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0" y="1837944"/>
            <a:ext cx="493776" cy="493776"/>
          </a:xfrm>
          <a:prstGeom prst="ellipse">
            <a:avLst/>
          </a:prstGeom>
          <a:solidFill>
            <a:srgbClr val="0E7C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0" y="1837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17922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355080" y="21031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writes a Scala snippet for the API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0" y="2606040"/>
            <a:ext cx="6126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2752344"/>
            <a:ext cx="493776" cy="493776"/>
          </a:xfrm>
          <a:prstGeom prst="ellipse">
            <a:avLst/>
          </a:prstGeom>
          <a:solidFill>
            <a:srgbClr val="0E7C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27523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27066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Splice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55080" y="30175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scaffold: full imports + typed sample data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0" y="3520440"/>
            <a:ext cx="6126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3666744"/>
            <a:ext cx="493776" cy="493776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36667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36210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355080" y="39319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scalac - most failures happen here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0" y="4434840"/>
            <a:ext cx="6126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0" y="4581144"/>
            <a:ext cx="493776" cy="493776"/>
          </a:xfrm>
          <a:prstGeom prst="ellipse">
            <a:avLst/>
          </a:prstGeom>
          <a:solidFill>
            <a:srgbClr val="0E7C90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45811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5080" y="45354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355080" y="4846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spark-submit runs the job locally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0" y="5349240"/>
            <a:ext cx="61264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0" y="5495544"/>
            <a:ext cx="493776" cy="493776"/>
          </a:xfrm>
          <a:prstGeom prst="ellipse">
            <a:avLst/>
          </a:prstGeom>
          <a:solidFill>
            <a:srgbClr val="0E7C90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5495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55080" y="544982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355080" y="5760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witness to PASS / FAIL (else retry)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0" y="628192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up to 4 rounds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of 218 APIs passed - below the bar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3911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7C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0.294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28986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11880" y="178308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9040" y="203911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/ 218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776472" y="28986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passed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40050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44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13232" y="48646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failed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11880" y="374904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40050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776472" y="48646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64 passed on first try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766560" y="1783080"/>
            <a:ext cx="484632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1965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vs. fail</a:t>
            </a:r>
            <a:endParaRPr lang="en-US" sz="16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858000" y="2286000"/>
          <a:ext cx="46634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 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 errors dominate; retries barely help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9436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category  (of 154 failed APIs)</a:t>
            </a:r>
            <a:endParaRPr lang="en-US" sz="15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331720"/>
          <a:ext cx="5760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720840" y="1737360"/>
            <a:ext cx="48920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94944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passes happen</a:t>
            </a:r>
            <a:endParaRPr lang="en-US" sz="15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858000" y="2286000"/>
          <a:ext cx="46177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6949440" y="5074920"/>
            <a:ext cx="4434840" cy="868680"/>
          </a:xfrm>
          <a:prstGeom prst="roundRect">
            <a:avLst>
              <a:gd name="adj" fmla="val 6316"/>
            </a:avLst>
          </a:prstGeom>
          <a:solidFill>
            <a:srgbClr val="F4F7F9"/>
          </a:solidFill>
          <a:ln/>
        </p:spPr>
      </p:sp>
      <p:sp>
        <p:nvSpPr>
          <p:cNvPr id="11" name="Text 7"/>
          <p:cNvSpPr/>
          <p:nvPr/>
        </p:nvSpPr>
        <p:spPr>
          <a:xfrm>
            <a:off x="7132320" y="5120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passes come on the very first round. 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extra retry rounds recover only 14 more APIs.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64 APIs that passed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1096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10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/ geometry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203704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addGeometry, getGeometry, numComponents, numFeatures, flatten, explode, mbr, diagonal, makeBoxes, overlay, reprojectGeometry, reproject*, simplifyGeometry*, splitGeometryAcrossDateLine*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911096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810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Raster / raptor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53712" y="2203704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raptorJoinFeature, raptorJoinIDFull, mapPixels, filterPixels, rasterizePixels, rasterizePoints, pixelLocations, geoTiff, tileIDs, reprojectRDD, reprojectEnvelope, findTransformationInfo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911096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18105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/ 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02752" y="2203704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geojsonFile, spatialFile, shapefile, saveAsGeoJSON, saveAsGeoTiff, plotImage, readLocal, readPartition, putStoredFile, getFeatureReaderClass, listFilesInZip*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242816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1422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/ partitioning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04672" y="4535424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buildIndex, partitionBy, createPartitions, createTileIDFilter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4023360"/>
            <a:ext cx="7315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4242816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414223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Generators / CRS / misc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53712" y="4535424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generateSpatialData, sierpinski, parcel, distribution, crsToSRID, sridToCRS, config, metadata, construct, create, append, add, close, end, getInt, getLong, getStorageSize, isEmpty, setBoolean, setLong, sparkContext, zigzagDecode, x1/x2/y1/y2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5 APIs ran without a correctness witness - "pass" means it executed without crashing, not verified-correct.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FAILURE MODE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knows the name, not how to call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1264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Failures by concrete cause  (n = 118 distilled)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286000"/>
          <a:ext cx="60807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1737360"/>
            <a:ext cx="47548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86600" y="1938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 many "not a member" errors?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086600" y="23317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RDPro exposes most operations through implicit Scala mixins </a:t>
            </a:r>
            <a:pPr indent="0" marL="0">
              <a:buNone/>
            </a:pPr>
            <a:r>
              <a:rPr lang="en-US" sz="1350" i="1" dirty="0">
                <a:solidFill>
                  <a:srgbClr val="0E7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(RaptorMixin, ReadWriteMixin ...). </a:t>
            </a:r>
            <a:pPr indent="0" marL="0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calls them on the wrong receiver or as a bare function, so the implicit never resolves.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086600" y="3703320"/>
            <a:ext cx="4297680" cy="2286000"/>
          </a:xfrm>
          <a:prstGeom prst="roundRect">
            <a:avLst>
              <a:gd name="adj" fmla="val 2400"/>
            </a:avLst>
          </a:prstGeom>
          <a:solidFill>
            <a:srgbClr val="0E2436"/>
          </a:solidFill>
          <a:ln/>
        </p:spPr>
      </p:sp>
      <p:sp>
        <p:nvSpPr>
          <p:cNvPr id="11" name="Text 8"/>
          <p:cNvSpPr/>
          <p:nvPr/>
        </p:nvSpPr>
        <p:spPr>
          <a:xfrm>
            <a:off x="7269480" y="3840480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FB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model writes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9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sc.geoTiff(path)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FF9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raptorJoin(a, b)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B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C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not found: value raptorJoin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C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geoTiff is not a member of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C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org.apache.spark.SparkContext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DIAGNOSIS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missing-examples or missing-context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3246120"/>
          </a:xfrm>
          <a:prstGeom prst="roundRect">
            <a:avLst>
              <a:gd name="adj" fmla="val 1972"/>
            </a:avLst>
          </a:prstGeom>
          <a:solidFill>
            <a:srgbClr val="16354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provided to the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937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 import surface (~330 imports)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Per-API doc: Signature, Valid Call Patterns, Common Failure Modes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sample data bound in scope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worked examples (python/scala)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D6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loop replays each error + fix hint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303520" cy="3246120"/>
          </a:xfrm>
          <a:prstGeom prst="roundRect">
            <a:avLst>
              <a:gd name="adj" fmla="val 1972"/>
            </a:avLst>
          </a:prstGeom>
          <a:solidFill>
            <a:srgbClr val="16354E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3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Yet the model still...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754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1D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ops on the wrong receiver / as bare names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1D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hallucinates values &amp; packages (SpatialRDD, dynoviz)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1D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constructor arity, overloads &amp; type args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1D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for private / inaccessible members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0E7C9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32180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misuse despite context. </a:t>
            </a:r>
            <a:pPr indent="0" marL="0">
              <a:buNone/>
            </a:pPr>
            <a:r>
              <a:rPr lang="en-US" sz="1450" dirty="0">
                <a:solidFill>
                  <a:srgbClr val="EA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leverage is doc quality + an alias map (not more raw examples) - and ~14 failures are environment issues that aren't the model's fault at all.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023360"/>
            <a:ext cx="4572000" cy="4572000"/>
          </a:xfrm>
          <a:prstGeom prst="ellipse">
            <a:avLst/>
          </a:prstGeom>
          <a:solidFill>
            <a:srgbClr val="1635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FIXABLE LEVERS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moves that raise the score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93592" cy="3429000"/>
          </a:xfrm>
          <a:prstGeom prst="roundRect">
            <a:avLst>
              <a:gd name="adj" fmla="val 2133"/>
            </a:avLst>
          </a:prstGeom>
          <a:solidFill>
            <a:srgbClr val="16354E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0E7C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call-site docs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Receiver-accurate Valid Call Patterns + an alias map for mixin ops (sc.geoTiff, raptorJoin, readCSVPoint ...). Targets the ~47 biggest failures.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5968" y="1874520"/>
            <a:ext cx="3593592" cy="3429000"/>
          </a:xfrm>
          <a:prstGeom prst="roundRect">
            <a:avLst>
              <a:gd name="adj" fmla="val 2133"/>
            </a:avLst>
          </a:prstGeom>
          <a:solidFill>
            <a:srgbClr val="16354E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0288" y="2148840"/>
            <a:ext cx="640080" cy="64008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0288" y="2926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 the environment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0288" y="36118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missing jars (Jetty, Calcite), fix the file vs hdfs FS scheme, restore fixtures. ~14 failures clear with zero model changes.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83296" y="1874520"/>
            <a:ext cx="3593592" cy="3429000"/>
          </a:xfrm>
          <a:prstGeom prst="roundRect">
            <a:avLst>
              <a:gd name="adj" fmla="val 2133"/>
            </a:avLst>
          </a:prstGeom>
          <a:solidFill>
            <a:srgbClr val="16354E"/>
          </a:solidFill>
          <a:ln/>
          <a:effectLst>
            <a:outerShdw sx="100000" sy="100000" kx="0" ky="0" algn="bl" rotWithShape="0" blurRad="114300" dist="38100" dir="5400000">
              <a:srgbClr val="0E2436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2148840"/>
            <a:ext cx="640080" cy="64008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57616" y="2926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Re-run &amp; re-measure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57616" y="36118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CFE0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true model errors from harness noise, then track the delta round-over-round.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3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discuss priorities  -&gt;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RDPro API Comprehension Run</dc:title>
  <dc:subject>PptxGenJS Presentation</dc:subject>
  <dc:creator>Analysis</dc:creator>
  <cp:lastModifiedBy>Analysis</cp:lastModifiedBy>
  <cp:revision>1</cp:revision>
  <dcterms:created xsi:type="dcterms:W3CDTF">2026-07-01T15:54:35Z</dcterms:created>
  <dcterms:modified xsi:type="dcterms:W3CDTF">2026-07-01T15:54:35Z</dcterms:modified>
</cp:coreProperties>
</file>